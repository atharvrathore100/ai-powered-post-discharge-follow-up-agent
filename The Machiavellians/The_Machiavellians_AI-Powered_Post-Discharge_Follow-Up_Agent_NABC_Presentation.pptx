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702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3193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CS595 The Machiavellians - Project proposal .pdf, pages 1 to 3.
- User-provided file: CS595 Project Proposal Addendum.pdf, pages 1 to 2.
- Visual asset: AI-generated illustration cropped from an original image created in this conversation.
[Script]
Open with the problem, project title, and team. State that the system targets the risky period immediately after discharge and is framed under patient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CS595 The Machiavellians - Project proposal .pdf, pages 1 to 2.
- User-provided file: CS595 Project Proposal Addendum.pdf, page 1.
[Script]
Explain the need in plain language: the patient leaves with a paper plan, but the hospital loses visibility. Emphasize the 30-day readmission problem, the fragile post-discharge period, and why manual outreach does not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CS595 The Machiavellians - Project proposal .pdf, pages 2 to 3.
- User-provided file: CS595 Project Proposal Addendum.pdf, pages 1 to 2.
[Script]
Walk through the pipeline left to right. Keep it at the workflow level, not technical minutiae. Make clear that the MVP is intentionally scoped to synthetic FHIR data, simulated SMS-style messaging, SQLite state tracking, and LangGraph orchestration.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CS595 The Machiavellians - Project proposal .pdf, pages 1 to 3.
- User-provided file: CS595 Project Proposal Addendum.pdf, pages 1 to 2.
[Script]
Translate the benefits into value, not features. State what improves for the patient and what improves for the care team. End with the bottom-line outcome: smarter follow-up with lower operational burden.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Competition analysis synthesized from the user-provided project proposal and addendum.
- User-provided file: CS595 The Machiavellians - Project proposal .pdf, pages 1 to 2.
- User-provided file: CS595 Project Proposal Addendum.pdf, page 1.
[Script]
Frame competition as the status quo. The real alternative is not a flashy AI product. It is manual calls, static instructions, portals, and generic reminder tools. Then explain why your project is more proactive and more scalable.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Risk assessment synthesized from the user-provided proposal, addendum, and the stated MVP scope.
- User-provided file: CS595 The Machiavellians - Project proposal .pdf, pages 2 to 3.
- User-provided file: CS595 Project Proposal Addendum.pdf, page 2.
[Script]
State that these are early project risks, not deployment guarantees. Note that the highest-concern items are missing critical signals, inaccurate parsing, patient non-response, and security requirements if the system ever moves beyond the class MVP.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Risk mitigations synthesized from the user-provided proposal, addendum, and the MVP scope choices.
- User-provided file: CS595 The Machiavellians - Project proposal .pdf, pages 2 to 3.
- User-provided file: CS595 Project Proposal Addendum.pdf, page 2.
- Visual asset: AI-generated icon cropped from an original image created in this conversation.
[Script]
Close by showing that the team understands the risks and has a credible plan to manage them. End with the project position: it is a support layer for safer transitional care, not a replacement for clinical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BC_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29184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29184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" y="1005840"/>
            <a:ext cx="57150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BB"/>
          </a:p>
        </p:txBody>
      </p:sp>
      <p:sp>
        <p:nvSpPr>
          <p:cNvPr id="3" name="Shape 1"/>
          <p:cNvSpPr/>
          <p:nvPr/>
        </p:nvSpPr>
        <p:spPr>
          <a:xfrm>
            <a:off x="6144768" y="1005840"/>
            <a:ext cx="5440680" cy="4846320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BB"/>
          </a:p>
        </p:txBody>
      </p:sp>
      <p:sp>
        <p:nvSpPr>
          <p:cNvPr id="4" name="Text 2"/>
          <p:cNvSpPr/>
          <p:nvPr/>
        </p:nvSpPr>
        <p:spPr>
          <a:xfrm>
            <a:off x="932688" y="1353312"/>
            <a:ext cx="4480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AI-Powered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0B2E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Post-Discharge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0B2E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Follow-Up Agent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32688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NABC Presentation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32688" y="31747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Hook: discharge should not mean patient silence.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96112" y="3740802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8" name="Text 6"/>
          <p:cNvSpPr/>
          <p:nvPr/>
        </p:nvSpPr>
        <p:spPr>
          <a:xfrm>
            <a:off x="896112" y="376823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6E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Engagement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41448" y="3740802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10" name="Text 8"/>
          <p:cNvSpPr/>
          <p:nvPr/>
        </p:nvSpPr>
        <p:spPr>
          <a:xfrm>
            <a:off x="2441448" y="376823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FHIR-based workflow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33088" y="3740802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FDF2D5"/>
          </a:solidFill>
          <a:ln w="12700">
            <a:solidFill>
              <a:srgbClr val="FDF2D5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12" name="Text 10"/>
          <p:cNvSpPr/>
          <p:nvPr/>
        </p:nvSpPr>
        <p:spPr>
          <a:xfrm>
            <a:off x="4133088" y="376823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7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Simulated MVP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96112" y="413580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Team: The Machiavellians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86886" y="45491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Athrav Rathore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Jenil Panchal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Samarth Rajput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Gaurav Acharya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Riyan Maindargi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Varun Kadam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3813048" y="5669280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LOF Pillar: Patient Engagement</a:t>
            </a:r>
            <a:endParaRPr lang="en-US" sz="1120" dirty="0"/>
          </a:p>
        </p:txBody>
      </p:sp>
      <p:pic>
        <p:nvPicPr>
          <p:cNvPr id="16" name="Image 0" descr="/mnt/data/title_art_cro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773" y="1417320"/>
            <a:ext cx="3510951" cy="33832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748272" y="4983480"/>
            <a:ext cx="404164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7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from simulated FHIR discharge data, personalized follow-up messaging, response analysis, and risk escalation.</a:t>
            </a:r>
            <a:endParaRPr lang="en-US" sz="1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29184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E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has the problem, why it matters, and what fails today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365760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1270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B"/>
          </a:p>
        </p:txBody>
      </p:sp>
      <p:sp>
        <p:nvSpPr>
          <p:cNvPr id="5" name="Shape 3"/>
          <p:cNvSpPr/>
          <p:nvPr/>
        </p:nvSpPr>
        <p:spPr>
          <a:xfrm>
            <a:off x="1051560" y="1609344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6" name="Text 4"/>
          <p:cNvSpPr/>
          <p:nvPr/>
        </p:nvSpPr>
        <p:spPr>
          <a:xfrm>
            <a:off x="1051560" y="163677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need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51560" y="249631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E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Patients leave the hospital with complex instructions but limited support once they get home.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4023360"/>
            <a:ext cx="3063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creates a transitional-care gap where confusion, missed medications, skipped appointments, and worsening symptoms can go unnoticed.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617720" y="1325880"/>
            <a:ext cx="6720840" cy="1874520"/>
          </a:xfrm>
          <a:prstGeom prst="roundRect">
            <a:avLst>
              <a:gd name="adj" fmla="val 585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10" name="Text 8"/>
          <p:cNvSpPr/>
          <p:nvPr/>
        </p:nvSpPr>
        <p:spPr>
          <a:xfrm>
            <a:off x="4937760" y="1792224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E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Around 20% of patients are readmitted within 30 days of discharge, often due to misunderstood instructions, missed medications, or skipped follow-up appointments.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828032" y="3657600"/>
            <a:ext cx="6181344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12" name="Text 10"/>
          <p:cNvSpPr/>
          <p:nvPr/>
        </p:nvSpPr>
        <p:spPr>
          <a:xfrm>
            <a:off x="4864608" y="3364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feels this problem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92040" y="3895344"/>
            <a:ext cx="109728" cy="109728"/>
          </a:xfrm>
          <a:prstGeom prst="ellipse">
            <a:avLst/>
          </a:prstGeom>
          <a:solidFill>
            <a:srgbClr val="2A6EBB"/>
          </a:solidFill>
          <a:ln w="12700">
            <a:solidFill>
              <a:srgbClr val="2A6EBB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14" name="Text 12"/>
          <p:cNvSpPr/>
          <p:nvPr/>
        </p:nvSpPr>
        <p:spPr>
          <a:xfrm>
            <a:off x="5093208" y="3840480"/>
            <a:ext cx="57424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2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Recently discharged patients managing chronic conditions or recovery instructions at home</a:t>
            </a:r>
            <a:endParaRPr lang="en-US" sz="1820" dirty="0"/>
          </a:p>
        </p:txBody>
      </p:sp>
      <p:sp>
        <p:nvSpPr>
          <p:cNvPr id="15" name="Shape 13"/>
          <p:cNvSpPr/>
          <p:nvPr/>
        </p:nvSpPr>
        <p:spPr>
          <a:xfrm>
            <a:off x="4892040" y="4462272"/>
            <a:ext cx="109728" cy="109728"/>
          </a:xfrm>
          <a:prstGeom prst="ellipse">
            <a:avLst/>
          </a:prstGeom>
          <a:solidFill>
            <a:srgbClr val="2A6EBB"/>
          </a:solidFill>
          <a:ln w="12700">
            <a:solidFill>
              <a:srgbClr val="2A6EBB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16" name="Text 14"/>
          <p:cNvSpPr/>
          <p:nvPr/>
        </p:nvSpPr>
        <p:spPr>
          <a:xfrm>
            <a:off x="5093208" y="4407408"/>
            <a:ext cx="57424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2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 coordinators who currently rely on manual phone outreach</a:t>
            </a:r>
            <a:endParaRPr lang="en-US" sz="1820" dirty="0"/>
          </a:p>
        </p:txBody>
      </p:sp>
      <p:sp>
        <p:nvSpPr>
          <p:cNvPr id="17" name="Shape 15"/>
          <p:cNvSpPr/>
          <p:nvPr/>
        </p:nvSpPr>
        <p:spPr>
          <a:xfrm>
            <a:off x="4892040" y="5029200"/>
            <a:ext cx="109728" cy="109728"/>
          </a:xfrm>
          <a:prstGeom prst="ellipse">
            <a:avLst/>
          </a:prstGeom>
          <a:solidFill>
            <a:srgbClr val="2A6EBB"/>
          </a:solidFill>
          <a:ln w="12700">
            <a:solidFill>
              <a:srgbClr val="2A6EBB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18" name="Text 16"/>
          <p:cNvSpPr/>
          <p:nvPr/>
        </p:nvSpPr>
        <p:spPr>
          <a:xfrm>
            <a:off x="5093208" y="4974336"/>
            <a:ext cx="57424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2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Hospitals that absorb avoidable readmissions and higher follow-up burden</a:t>
            </a:r>
            <a:endParaRPr lang="en-US" sz="1820" dirty="0"/>
          </a:p>
        </p:txBody>
      </p:sp>
      <p:sp>
        <p:nvSpPr>
          <p:cNvPr id="19" name="Shape 17"/>
          <p:cNvSpPr/>
          <p:nvPr/>
        </p:nvSpPr>
        <p:spPr>
          <a:xfrm>
            <a:off x="4681727" y="5760717"/>
            <a:ext cx="6834769" cy="804674"/>
          </a:xfrm>
          <a:prstGeom prst="roundRect">
            <a:avLst>
              <a:gd name="adj" fmla="val 9722"/>
            </a:avLst>
          </a:prstGeom>
          <a:solidFill>
            <a:srgbClr val="FDF2D5"/>
          </a:solidFill>
          <a:ln w="12700">
            <a:solidFill>
              <a:srgbClr val="FDF2D5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20" name="Text 18"/>
          <p:cNvSpPr/>
          <p:nvPr/>
        </p:nvSpPr>
        <p:spPr>
          <a:xfrm>
            <a:off x="4937760" y="604418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follow-up is typically manual, time-consuming, and hard to scale. That means early warning signs are often missed.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29184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E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Approach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High-level system flow for the MVP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1069518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AI-powered follow-up workflow parses discharge data, generates personalized outreach, evaluates patient replies, and escalates only when risk is detected.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2441448" y="2907792"/>
            <a:ext cx="365760" cy="438912"/>
          </a:xfrm>
          <a:prstGeom prst="chevron">
            <a:avLst/>
          </a:prstGeom>
          <a:solidFill>
            <a:srgbClr val="B7C7D9"/>
          </a:solidFill>
          <a:ln w="12700">
            <a:solidFill>
              <a:srgbClr val="B7C7D9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6" name="Shape 4"/>
          <p:cNvSpPr/>
          <p:nvPr/>
        </p:nvSpPr>
        <p:spPr>
          <a:xfrm>
            <a:off x="4361688" y="2907792"/>
            <a:ext cx="365760" cy="438912"/>
          </a:xfrm>
          <a:prstGeom prst="chevron">
            <a:avLst/>
          </a:prstGeom>
          <a:solidFill>
            <a:srgbClr val="B7C7D9"/>
          </a:solidFill>
          <a:ln w="12700">
            <a:solidFill>
              <a:srgbClr val="B7C7D9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7" name="Shape 5"/>
          <p:cNvSpPr/>
          <p:nvPr/>
        </p:nvSpPr>
        <p:spPr>
          <a:xfrm>
            <a:off x="6364224" y="2907792"/>
            <a:ext cx="365760" cy="438912"/>
          </a:xfrm>
          <a:prstGeom prst="chevron">
            <a:avLst/>
          </a:prstGeom>
          <a:solidFill>
            <a:srgbClr val="B7C7D9"/>
          </a:solidFill>
          <a:ln w="12700">
            <a:solidFill>
              <a:srgbClr val="B7C7D9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8" name="Shape 6"/>
          <p:cNvSpPr/>
          <p:nvPr/>
        </p:nvSpPr>
        <p:spPr>
          <a:xfrm>
            <a:off x="8385048" y="2907792"/>
            <a:ext cx="365760" cy="438912"/>
          </a:xfrm>
          <a:prstGeom prst="chevron">
            <a:avLst/>
          </a:prstGeom>
          <a:solidFill>
            <a:srgbClr val="B7C7D9"/>
          </a:solidFill>
          <a:ln w="12700">
            <a:solidFill>
              <a:srgbClr val="B7C7D9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9" name="Shape 7"/>
          <p:cNvSpPr/>
          <p:nvPr/>
        </p:nvSpPr>
        <p:spPr>
          <a:xfrm>
            <a:off x="822960" y="1682496"/>
            <a:ext cx="1655064" cy="256946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1143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BB"/>
          </a:p>
        </p:txBody>
      </p:sp>
      <p:sp>
        <p:nvSpPr>
          <p:cNvPr id="10" name="Shape 8"/>
          <p:cNvSpPr/>
          <p:nvPr/>
        </p:nvSpPr>
        <p:spPr>
          <a:xfrm>
            <a:off x="987552" y="1801368"/>
            <a:ext cx="1335024" cy="466344"/>
          </a:xfrm>
          <a:prstGeom prst="roundRect">
            <a:avLst>
              <a:gd name="adj" fmla="val 21429"/>
            </a:avLst>
          </a:prstGeom>
          <a:solidFill>
            <a:srgbClr val="2A6EBB"/>
          </a:solidFill>
          <a:ln w="12700">
            <a:solidFill>
              <a:srgbClr val="2A6EBB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11" name="Shape 9"/>
          <p:cNvSpPr/>
          <p:nvPr/>
        </p:nvSpPr>
        <p:spPr>
          <a:xfrm>
            <a:off x="987552" y="2395728"/>
            <a:ext cx="1335024" cy="713232"/>
          </a:xfrm>
          <a:prstGeom prst="roundRect">
            <a:avLst>
              <a:gd name="adj" fmla="val 12821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12" name="Text 10"/>
          <p:cNvSpPr/>
          <p:nvPr/>
        </p:nvSpPr>
        <p:spPr>
          <a:xfrm>
            <a:off x="969264" y="1938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Parse discharge summary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950976" y="3255264"/>
            <a:ext cx="140817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07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simulated HL7 FHIR R4 resources such as Patient, MedicationRequest, and DocumentReference.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1033272" y="2596896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6EB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FHIR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2743200" y="1682496"/>
            <a:ext cx="1664208" cy="256946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1143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BB"/>
          </a:p>
        </p:txBody>
      </p:sp>
      <p:sp>
        <p:nvSpPr>
          <p:cNvPr id="16" name="Shape 14"/>
          <p:cNvSpPr/>
          <p:nvPr/>
        </p:nvSpPr>
        <p:spPr>
          <a:xfrm>
            <a:off x="2907792" y="1801368"/>
            <a:ext cx="1335024" cy="466344"/>
          </a:xfrm>
          <a:prstGeom prst="roundRect">
            <a:avLst>
              <a:gd name="adj" fmla="val 21429"/>
            </a:avLst>
          </a:prstGeom>
          <a:solidFill>
            <a:srgbClr val="1F7A70"/>
          </a:solidFill>
          <a:ln w="12700">
            <a:solidFill>
              <a:srgbClr val="1F7A70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17" name="Shape 15"/>
          <p:cNvSpPr/>
          <p:nvPr/>
        </p:nvSpPr>
        <p:spPr>
          <a:xfrm>
            <a:off x="2907792" y="2395728"/>
            <a:ext cx="1335024" cy="713232"/>
          </a:xfrm>
          <a:prstGeom prst="roundRect">
            <a:avLst>
              <a:gd name="adj" fmla="val 12821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18" name="Text 16"/>
          <p:cNvSpPr/>
          <p:nvPr/>
        </p:nvSpPr>
        <p:spPr>
          <a:xfrm>
            <a:off x="2889504" y="1938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Generate follow-up plan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2871216" y="3255264"/>
            <a:ext cx="140817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07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personalized reminders and symptom check-in questions from the discharge information.</a:t>
            </a:r>
            <a:endParaRPr lang="en-US" sz="1070" dirty="0"/>
          </a:p>
        </p:txBody>
      </p:sp>
      <p:sp>
        <p:nvSpPr>
          <p:cNvPr id="20" name="Text 18"/>
          <p:cNvSpPr/>
          <p:nvPr/>
        </p:nvSpPr>
        <p:spPr>
          <a:xfrm>
            <a:off x="2953512" y="2596896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7A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4709160" y="1682496"/>
            <a:ext cx="1664208" cy="256946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1143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BB"/>
          </a:p>
        </p:txBody>
      </p:sp>
      <p:sp>
        <p:nvSpPr>
          <p:cNvPr id="22" name="Shape 20"/>
          <p:cNvSpPr/>
          <p:nvPr/>
        </p:nvSpPr>
        <p:spPr>
          <a:xfrm>
            <a:off x="4873752" y="1801368"/>
            <a:ext cx="1335024" cy="466344"/>
          </a:xfrm>
          <a:prstGeom prst="roundRect">
            <a:avLst>
              <a:gd name="adj" fmla="val 21429"/>
            </a:avLst>
          </a:prstGeom>
          <a:solidFill>
            <a:srgbClr val="5B6AC9"/>
          </a:solidFill>
          <a:ln w="12700">
            <a:solidFill>
              <a:srgbClr val="5B6AC9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23" name="Shape 21"/>
          <p:cNvSpPr/>
          <p:nvPr/>
        </p:nvSpPr>
        <p:spPr>
          <a:xfrm>
            <a:off x="4873752" y="2395728"/>
            <a:ext cx="1335024" cy="713232"/>
          </a:xfrm>
          <a:prstGeom prst="roundRect">
            <a:avLst>
              <a:gd name="adj" fmla="val 1282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24" name="Text 22"/>
          <p:cNvSpPr/>
          <p:nvPr/>
        </p:nvSpPr>
        <p:spPr>
          <a:xfrm>
            <a:off x="4855464" y="1938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Patient conversation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4837176" y="3255264"/>
            <a:ext cx="140817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07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 simulated SMS-style interaction in the web UI and store conversation state in SQLite.</a:t>
            </a:r>
            <a:endParaRPr lang="en-US" sz="1070" dirty="0"/>
          </a:p>
        </p:txBody>
      </p:sp>
      <p:sp>
        <p:nvSpPr>
          <p:cNvPr id="26" name="Text 24"/>
          <p:cNvSpPr/>
          <p:nvPr/>
        </p:nvSpPr>
        <p:spPr>
          <a:xfrm>
            <a:off x="4919472" y="2596896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5B6A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SMS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6766560" y="1682496"/>
            <a:ext cx="1664208" cy="256946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1143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BB"/>
          </a:p>
        </p:txBody>
      </p:sp>
      <p:sp>
        <p:nvSpPr>
          <p:cNvPr id="28" name="Shape 26"/>
          <p:cNvSpPr/>
          <p:nvPr/>
        </p:nvSpPr>
        <p:spPr>
          <a:xfrm>
            <a:off x="6931152" y="1801368"/>
            <a:ext cx="1335024" cy="466344"/>
          </a:xfrm>
          <a:prstGeom prst="roundRect">
            <a:avLst>
              <a:gd name="adj" fmla="val 21429"/>
            </a:avLst>
          </a:prstGeom>
          <a:solidFill>
            <a:srgbClr val="C07A00"/>
          </a:solidFill>
          <a:ln w="12700">
            <a:solidFill>
              <a:srgbClr val="C07A00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29" name="Shape 27"/>
          <p:cNvSpPr/>
          <p:nvPr/>
        </p:nvSpPr>
        <p:spPr>
          <a:xfrm>
            <a:off x="6931152" y="2395728"/>
            <a:ext cx="1335024" cy="713232"/>
          </a:xfrm>
          <a:prstGeom prst="roundRect">
            <a:avLst>
              <a:gd name="adj" fmla="val 12821"/>
            </a:avLst>
          </a:prstGeom>
          <a:solidFill>
            <a:srgbClr val="FDF2D5"/>
          </a:solidFill>
          <a:ln w="12700">
            <a:solidFill>
              <a:srgbClr val="FDF2D5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30" name="Text 28"/>
          <p:cNvSpPr/>
          <p:nvPr/>
        </p:nvSpPr>
        <p:spPr>
          <a:xfrm>
            <a:off x="6912864" y="1938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Analyze patient replies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6894576" y="3255264"/>
            <a:ext cx="140817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07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LangGraph-based agent flow to interpret responses and detect concerning patterns.</a:t>
            </a:r>
            <a:endParaRPr lang="en-US" sz="1070" dirty="0"/>
          </a:p>
        </p:txBody>
      </p:sp>
      <p:sp>
        <p:nvSpPr>
          <p:cNvPr id="32" name="Text 30"/>
          <p:cNvSpPr/>
          <p:nvPr/>
        </p:nvSpPr>
        <p:spPr>
          <a:xfrm>
            <a:off x="6976872" y="2596896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07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8778240" y="1682496"/>
            <a:ext cx="1664208" cy="256946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1143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BB"/>
          </a:p>
        </p:txBody>
      </p:sp>
      <p:sp>
        <p:nvSpPr>
          <p:cNvPr id="34" name="Shape 32"/>
          <p:cNvSpPr/>
          <p:nvPr/>
        </p:nvSpPr>
        <p:spPr>
          <a:xfrm>
            <a:off x="8942832" y="1801368"/>
            <a:ext cx="1335024" cy="466344"/>
          </a:xfrm>
          <a:prstGeom prst="roundRect">
            <a:avLst>
              <a:gd name="adj" fmla="val 21429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35" name="Shape 33"/>
          <p:cNvSpPr/>
          <p:nvPr/>
        </p:nvSpPr>
        <p:spPr>
          <a:xfrm>
            <a:off x="8942832" y="2395728"/>
            <a:ext cx="1335024" cy="713232"/>
          </a:xfrm>
          <a:prstGeom prst="roundRect">
            <a:avLst>
              <a:gd name="adj" fmla="val 12821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36" name="Text 34"/>
          <p:cNvSpPr/>
          <p:nvPr/>
        </p:nvSpPr>
        <p:spPr>
          <a:xfrm>
            <a:off x="8924544" y="1938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Escalate flagged cases</a:t>
            </a:r>
            <a:endParaRPr lang="en-US" sz="1130" dirty="0"/>
          </a:p>
        </p:txBody>
      </p:sp>
      <p:sp>
        <p:nvSpPr>
          <p:cNvPr id="37" name="Text 35"/>
          <p:cNvSpPr/>
          <p:nvPr/>
        </p:nvSpPr>
        <p:spPr>
          <a:xfrm>
            <a:off x="8906256" y="3255264"/>
            <a:ext cx="140817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07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high-risk cases to a care coordinator dashboard instead of escalating every case.</a:t>
            </a:r>
            <a:endParaRPr lang="en-US" sz="1070" dirty="0"/>
          </a:p>
        </p:txBody>
      </p:sp>
      <p:sp>
        <p:nvSpPr>
          <p:cNvPr id="38" name="Text 36"/>
          <p:cNvSpPr/>
          <p:nvPr/>
        </p:nvSpPr>
        <p:spPr>
          <a:xfrm>
            <a:off x="8988552" y="2596896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B23A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Care</a:t>
            </a:r>
            <a:endParaRPr lang="en-US" sz="1900" dirty="0"/>
          </a:p>
        </p:txBody>
      </p:sp>
      <p:sp>
        <p:nvSpPr>
          <p:cNvPr id="39" name="Shape 37"/>
          <p:cNvSpPr/>
          <p:nvPr/>
        </p:nvSpPr>
        <p:spPr>
          <a:xfrm>
            <a:off x="841248" y="4736592"/>
            <a:ext cx="10442448" cy="786384"/>
          </a:xfrm>
          <a:prstGeom prst="roundRect">
            <a:avLst>
              <a:gd name="adj" fmla="val 930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40" name="Text 38"/>
          <p:cNvSpPr/>
          <p:nvPr/>
        </p:nvSpPr>
        <p:spPr>
          <a:xfrm>
            <a:off x="1078992" y="4992624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scope: synthetic data only, no live EHR, no real PHI, and no external SMS integration in the first version. That reduces delivery risk while preserving the core workflow.</a:t>
            </a:r>
            <a:endParaRPr lang="en-US" sz="17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29184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E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Benefits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value this solution creates for patients and care teams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86384" y="1298448"/>
            <a:ext cx="5257800" cy="4498848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1143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BB"/>
          </a:p>
        </p:txBody>
      </p:sp>
      <p:sp>
        <p:nvSpPr>
          <p:cNvPr id="5" name="Shape 3"/>
          <p:cNvSpPr/>
          <p:nvPr/>
        </p:nvSpPr>
        <p:spPr>
          <a:xfrm>
            <a:off x="6172200" y="1298448"/>
            <a:ext cx="5138928" cy="4498848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1143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BB"/>
          </a:p>
        </p:txBody>
      </p:sp>
      <p:sp>
        <p:nvSpPr>
          <p:cNvPr id="6" name="Shape 4"/>
          <p:cNvSpPr/>
          <p:nvPr/>
        </p:nvSpPr>
        <p:spPr>
          <a:xfrm>
            <a:off x="1033272" y="1572768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2A6EBB"/>
          </a:solidFill>
          <a:ln w="12700">
            <a:solidFill>
              <a:srgbClr val="2A6EBB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7" name="Text 5"/>
          <p:cNvSpPr/>
          <p:nvPr/>
        </p:nvSpPr>
        <p:spPr>
          <a:xfrm>
            <a:off x="1033272" y="16002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patients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60704" y="19933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E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Clearer guidance after discharge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078992" y="2542032"/>
            <a:ext cx="109728" cy="109728"/>
          </a:xfrm>
          <a:prstGeom prst="ellipse">
            <a:avLst/>
          </a:prstGeom>
          <a:solidFill>
            <a:srgbClr val="2A6EBB"/>
          </a:solidFill>
          <a:ln w="12700">
            <a:solidFill>
              <a:srgbClr val="2A6EBB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10" name="Text 8"/>
          <p:cNvSpPr/>
          <p:nvPr/>
        </p:nvSpPr>
        <p:spPr>
          <a:xfrm>
            <a:off x="1280160" y="2487168"/>
            <a:ext cx="43251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Personalized reminders reinforce medications, follow-up appointments, and recovery instructions</a:t>
            </a:r>
            <a:endParaRPr lang="en-US" sz="1740" dirty="0"/>
          </a:p>
        </p:txBody>
      </p:sp>
      <p:sp>
        <p:nvSpPr>
          <p:cNvPr id="11" name="Shape 9"/>
          <p:cNvSpPr/>
          <p:nvPr/>
        </p:nvSpPr>
        <p:spPr>
          <a:xfrm>
            <a:off x="1078992" y="3255264"/>
            <a:ext cx="109728" cy="109728"/>
          </a:xfrm>
          <a:prstGeom prst="ellipse">
            <a:avLst/>
          </a:prstGeom>
          <a:solidFill>
            <a:srgbClr val="2A6EBB"/>
          </a:solidFill>
          <a:ln w="12700">
            <a:solidFill>
              <a:srgbClr val="2A6EBB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12" name="Text 10"/>
          <p:cNvSpPr/>
          <p:nvPr/>
        </p:nvSpPr>
        <p:spPr>
          <a:xfrm>
            <a:off x="1280160" y="3200400"/>
            <a:ext cx="43251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Symptom check-ins catch concerns earlier than passive discharge paperwork</a:t>
            </a:r>
            <a:endParaRPr lang="en-US" sz="1740" dirty="0"/>
          </a:p>
        </p:txBody>
      </p:sp>
      <p:sp>
        <p:nvSpPr>
          <p:cNvPr id="13" name="Shape 11"/>
          <p:cNvSpPr/>
          <p:nvPr/>
        </p:nvSpPr>
        <p:spPr>
          <a:xfrm>
            <a:off x="1078992" y="3968496"/>
            <a:ext cx="109728" cy="109728"/>
          </a:xfrm>
          <a:prstGeom prst="ellipse">
            <a:avLst/>
          </a:prstGeom>
          <a:solidFill>
            <a:srgbClr val="2A6EBB"/>
          </a:solidFill>
          <a:ln w="12700">
            <a:solidFill>
              <a:srgbClr val="2A6EBB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14" name="Text 12"/>
          <p:cNvSpPr/>
          <p:nvPr/>
        </p:nvSpPr>
        <p:spPr>
          <a:xfrm>
            <a:off x="1280160" y="3913632"/>
            <a:ext cx="43251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messaging flow lowers friction and supports patients with limited medical literacy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6428232" y="1572768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1F7A70"/>
          </a:solidFill>
          <a:ln w="12700">
            <a:solidFill>
              <a:srgbClr val="1F7A70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16" name="Text 14"/>
          <p:cNvSpPr/>
          <p:nvPr/>
        </p:nvSpPr>
        <p:spPr>
          <a:xfrm>
            <a:off x="6428232" y="16002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providers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55664" y="19933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E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More scalable transitional care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473952" y="2542032"/>
            <a:ext cx="109728" cy="109728"/>
          </a:xfrm>
          <a:prstGeom prst="ellipse">
            <a:avLst/>
          </a:prstGeom>
          <a:solidFill>
            <a:srgbClr val="1F7A70"/>
          </a:solidFill>
          <a:ln w="12700">
            <a:solidFill>
              <a:srgbClr val="1F7A70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19" name="Text 17"/>
          <p:cNvSpPr/>
          <p:nvPr/>
        </p:nvSpPr>
        <p:spPr>
          <a:xfrm>
            <a:off x="6675120" y="2487168"/>
            <a:ext cx="4187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Routine outreach can be automated instead of handled only through manual phone calls</a:t>
            </a:r>
            <a:endParaRPr lang="en-US" sz="1740" dirty="0"/>
          </a:p>
        </p:txBody>
      </p:sp>
      <p:sp>
        <p:nvSpPr>
          <p:cNvPr id="20" name="Shape 18"/>
          <p:cNvSpPr/>
          <p:nvPr/>
        </p:nvSpPr>
        <p:spPr>
          <a:xfrm>
            <a:off x="6473952" y="3255264"/>
            <a:ext cx="109728" cy="109728"/>
          </a:xfrm>
          <a:prstGeom prst="ellipse">
            <a:avLst/>
          </a:prstGeom>
          <a:solidFill>
            <a:srgbClr val="1F7A70"/>
          </a:solidFill>
          <a:ln w="12700">
            <a:solidFill>
              <a:srgbClr val="1F7A70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21" name="Text 19"/>
          <p:cNvSpPr/>
          <p:nvPr/>
        </p:nvSpPr>
        <p:spPr>
          <a:xfrm>
            <a:off x="6675120" y="3200400"/>
            <a:ext cx="4187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attention shifts toward flagged, higher-risk cases rather than every discharged patient</a:t>
            </a:r>
            <a:endParaRPr lang="en-US" sz="1740" dirty="0"/>
          </a:p>
        </p:txBody>
      </p:sp>
      <p:sp>
        <p:nvSpPr>
          <p:cNvPr id="22" name="Shape 20"/>
          <p:cNvSpPr/>
          <p:nvPr/>
        </p:nvSpPr>
        <p:spPr>
          <a:xfrm>
            <a:off x="6473952" y="3968496"/>
            <a:ext cx="109728" cy="109728"/>
          </a:xfrm>
          <a:prstGeom prst="ellipse">
            <a:avLst/>
          </a:prstGeom>
          <a:solidFill>
            <a:srgbClr val="1F7A70"/>
          </a:solidFill>
          <a:ln w="12700">
            <a:solidFill>
              <a:srgbClr val="1F7A70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23" name="Text 21"/>
          <p:cNvSpPr/>
          <p:nvPr/>
        </p:nvSpPr>
        <p:spPr>
          <a:xfrm>
            <a:off x="6675120" y="3913632"/>
            <a:ext cx="4187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FHIR-grounded workflow makes the system easier to test, extend, and connect to real-world processes later</a:t>
            </a:r>
            <a:endParaRPr lang="en-US" sz="1740" dirty="0"/>
          </a:p>
        </p:txBody>
      </p:sp>
      <p:sp>
        <p:nvSpPr>
          <p:cNvPr id="24" name="Shape 22"/>
          <p:cNvSpPr/>
          <p:nvPr/>
        </p:nvSpPr>
        <p:spPr>
          <a:xfrm>
            <a:off x="987552" y="4992624"/>
            <a:ext cx="10113264" cy="493776"/>
          </a:xfrm>
          <a:prstGeom prst="roundRect">
            <a:avLst>
              <a:gd name="adj" fmla="val 12963"/>
            </a:avLst>
          </a:prstGeom>
          <a:solidFill>
            <a:srgbClr val="EAF5EF"/>
          </a:solidFill>
          <a:ln w="12700">
            <a:solidFill>
              <a:srgbClr val="EAF5EF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25" name="Text 23"/>
          <p:cNvSpPr/>
          <p:nvPr/>
        </p:nvSpPr>
        <p:spPr>
          <a:xfrm>
            <a:off x="1298448" y="5129784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line: better adherence, earlier signal on complications, and less wasted staff time.</a:t>
            </a:r>
            <a:endParaRPr lang="en-US" sz="17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29184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E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Competition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people use now, and where this project differentiates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12070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project does not compete against one product. It competes against the current mix of manual outreach, passive discharge communication, and generic reminder tools.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783080"/>
          <a:ext cx="10515600" cy="3218688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80" b="1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Manual nurse or care-coordinator calls</a:t>
                      </a:r>
                      <a:endParaRPr lang="en-US" sz="14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80" dirty="0">
                          <a:solidFill>
                            <a:srgbClr val="23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Personal and clinically grounded</a:t>
                      </a:r>
                      <a:endParaRPr lang="en-US" sz="14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80" dirty="0">
                          <a:solidFill>
                            <a:srgbClr val="23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Time-intensive, inconsistent, and hard to scale across every discharge</a:t>
                      </a:r>
                      <a:endParaRPr lang="en-US" sz="14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80" dirty="0">
                          <a:solidFill>
                            <a:srgbClr val="23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Automates routine outreach and escalates only when risk is detected</a:t>
                      </a:r>
                      <a:endParaRPr lang="en-US" sz="14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80" b="1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Discharge paperwork or portal messages</a:t>
                      </a:r>
                      <a:endParaRPr lang="en-US" sz="14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80" dirty="0">
                          <a:solidFill>
                            <a:srgbClr val="23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Already standard in many workflows</a:t>
                      </a:r>
                      <a:endParaRPr lang="en-US" sz="14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80" dirty="0">
                          <a:solidFill>
                            <a:srgbClr val="23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Passive, easy to ignore, and does not monitor patient understanding or symptoms</a:t>
                      </a:r>
                      <a:endParaRPr lang="en-US" sz="14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80" dirty="0">
                          <a:solidFill>
                            <a:srgbClr val="23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Creates proactive, two-way follow-up instead of static instructions</a:t>
                      </a:r>
                      <a:endParaRPr lang="en-US" sz="14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80" b="1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Generic medication reminder apps</a:t>
                      </a:r>
                      <a:endParaRPr lang="en-US" sz="14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80" dirty="0">
                          <a:solidFill>
                            <a:srgbClr val="23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Useful for basic reminders</a:t>
                      </a:r>
                      <a:endParaRPr lang="en-US" sz="14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80" dirty="0">
                          <a:solidFill>
                            <a:srgbClr val="23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tied to the patient's discharge summary, symptom risk, or coordinator escalation</a:t>
                      </a:r>
                      <a:endParaRPr lang="en-US" sz="14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80" dirty="0">
                          <a:solidFill>
                            <a:srgbClr val="23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Uses discharge-specific context rather than one-size-fits-all reminders</a:t>
                      </a:r>
                      <a:endParaRPr lang="en-US" sz="14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80" b="1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Human-only post-discharge programs</a:t>
                      </a:r>
                      <a:endParaRPr lang="en-US" sz="14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80" dirty="0">
                          <a:solidFill>
                            <a:srgbClr val="23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Can offer high-touch support</a:t>
                      </a:r>
                      <a:endParaRPr lang="en-US" sz="14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80" dirty="0">
                          <a:solidFill>
                            <a:srgbClr val="23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Expensive and capacity-limited if used for every patient</a:t>
                      </a:r>
                      <a:endParaRPr lang="en-US" sz="14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80" dirty="0">
                          <a:solidFill>
                            <a:srgbClr val="23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Acts as a scalable front line that triages before human review</a:t>
                      </a:r>
                      <a:endParaRPr lang="en-US" sz="14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29184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E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Matrix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risks identified in the current project scope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 rot="16200000">
            <a:off x="877824" y="1417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61488" y="57424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Likelihood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6112" y="21305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417320" y="1719072"/>
            <a:ext cx="1078992" cy="1078992"/>
          </a:xfrm>
          <a:prstGeom prst="rect">
            <a:avLst/>
          </a:prstGeom>
          <a:solidFill>
            <a:srgbClr val="FBE7E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8" name="Shape 6"/>
          <p:cNvSpPr/>
          <p:nvPr/>
        </p:nvSpPr>
        <p:spPr>
          <a:xfrm>
            <a:off x="2496312" y="1719072"/>
            <a:ext cx="1078992" cy="1078992"/>
          </a:xfrm>
          <a:prstGeom prst="rect">
            <a:avLst/>
          </a:prstGeom>
          <a:solidFill>
            <a:srgbClr val="FBE7E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9" name="Shape 7"/>
          <p:cNvSpPr/>
          <p:nvPr/>
        </p:nvSpPr>
        <p:spPr>
          <a:xfrm>
            <a:off x="3575304" y="1719072"/>
            <a:ext cx="1078992" cy="1078992"/>
          </a:xfrm>
          <a:prstGeom prst="rect">
            <a:avLst/>
          </a:prstGeom>
          <a:solidFill>
            <a:srgbClr val="FBE7E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10" name="Text 8"/>
          <p:cNvSpPr/>
          <p:nvPr/>
        </p:nvSpPr>
        <p:spPr>
          <a:xfrm>
            <a:off x="466725" y="3209544"/>
            <a:ext cx="84086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417320" y="2798064"/>
            <a:ext cx="1078992" cy="1078992"/>
          </a:xfrm>
          <a:prstGeom prst="rect">
            <a:avLst/>
          </a:prstGeom>
          <a:solidFill>
            <a:srgbClr val="FDF2D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12" name="Shape 10"/>
          <p:cNvSpPr/>
          <p:nvPr/>
        </p:nvSpPr>
        <p:spPr>
          <a:xfrm>
            <a:off x="2496312" y="2798064"/>
            <a:ext cx="1078992" cy="1078992"/>
          </a:xfrm>
          <a:prstGeom prst="rect">
            <a:avLst/>
          </a:prstGeom>
          <a:solidFill>
            <a:srgbClr val="FDF2D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13" name="Shape 11"/>
          <p:cNvSpPr/>
          <p:nvPr/>
        </p:nvSpPr>
        <p:spPr>
          <a:xfrm>
            <a:off x="3575304" y="2798064"/>
            <a:ext cx="1078992" cy="1078992"/>
          </a:xfrm>
          <a:prstGeom prst="rect">
            <a:avLst/>
          </a:prstGeom>
          <a:solidFill>
            <a:srgbClr val="FDF2D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14" name="Text 12"/>
          <p:cNvSpPr/>
          <p:nvPr/>
        </p:nvSpPr>
        <p:spPr>
          <a:xfrm>
            <a:off x="896112" y="428853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417320" y="3877056"/>
            <a:ext cx="1078992" cy="1078992"/>
          </a:xfrm>
          <a:prstGeom prst="rect">
            <a:avLst/>
          </a:prstGeom>
          <a:solidFill>
            <a:srgbClr val="EAF5E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16" name="Shape 14"/>
          <p:cNvSpPr/>
          <p:nvPr/>
        </p:nvSpPr>
        <p:spPr>
          <a:xfrm>
            <a:off x="2496312" y="3877056"/>
            <a:ext cx="1078992" cy="1078992"/>
          </a:xfrm>
          <a:prstGeom prst="rect">
            <a:avLst/>
          </a:prstGeom>
          <a:solidFill>
            <a:srgbClr val="EAF5E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17" name="Shape 15"/>
          <p:cNvSpPr/>
          <p:nvPr/>
        </p:nvSpPr>
        <p:spPr>
          <a:xfrm>
            <a:off x="3575304" y="3877056"/>
            <a:ext cx="1078992" cy="1078992"/>
          </a:xfrm>
          <a:prstGeom prst="rect">
            <a:avLst/>
          </a:prstGeom>
          <a:solidFill>
            <a:srgbClr val="EAF5E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18" name="Text 16"/>
          <p:cNvSpPr/>
          <p:nvPr/>
        </p:nvSpPr>
        <p:spPr>
          <a:xfrm>
            <a:off x="1655064" y="50749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734056" y="50749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813048" y="50749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615184" y="1993392"/>
            <a:ext cx="457200" cy="256032"/>
          </a:xfrm>
          <a:prstGeom prst="roundRect">
            <a:avLst>
              <a:gd name="adj" fmla="val 17857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22" name="Text 20"/>
          <p:cNvSpPr/>
          <p:nvPr/>
        </p:nvSpPr>
        <p:spPr>
          <a:xfrm>
            <a:off x="2615184" y="202996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615184" y="3090672"/>
            <a:ext cx="457200" cy="256032"/>
          </a:xfrm>
          <a:prstGeom prst="roundRect">
            <a:avLst>
              <a:gd name="adj" fmla="val 17857"/>
            </a:avLst>
          </a:prstGeom>
          <a:solidFill>
            <a:srgbClr val="C07A00"/>
          </a:solidFill>
          <a:ln w="12700">
            <a:solidFill>
              <a:srgbClr val="C07A00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24" name="Text 22"/>
          <p:cNvSpPr/>
          <p:nvPr/>
        </p:nvSpPr>
        <p:spPr>
          <a:xfrm>
            <a:off x="2615184" y="312724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R2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712464" y="3090672"/>
            <a:ext cx="457200" cy="256032"/>
          </a:xfrm>
          <a:prstGeom prst="roundRect">
            <a:avLst>
              <a:gd name="adj" fmla="val 17857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26" name="Text 24"/>
          <p:cNvSpPr/>
          <p:nvPr/>
        </p:nvSpPr>
        <p:spPr>
          <a:xfrm>
            <a:off x="3712464" y="312724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615184" y="2487168"/>
            <a:ext cx="457200" cy="256032"/>
          </a:xfrm>
          <a:prstGeom prst="roundRect">
            <a:avLst>
              <a:gd name="adj" fmla="val 17857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28" name="Text 26"/>
          <p:cNvSpPr/>
          <p:nvPr/>
        </p:nvSpPr>
        <p:spPr>
          <a:xfrm>
            <a:off x="2615184" y="252374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R4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920240" y="1993392"/>
            <a:ext cx="457200" cy="256032"/>
          </a:xfrm>
          <a:prstGeom prst="roundRect">
            <a:avLst>
              <a:gd name="adj" fmla="val 17857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30" name="Text 28"/>
          <p:cNvSpPr/>
          <p:nvPr/>
        </p:nvSpPr>
        <p:spPr>
          <a:xfrm>
            <a:off x="1920240" y="202996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R5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938528" y="3090672"/>
            <a:ext cx="457200" cy="256032"/>
          </a:xfrm>
          <a:prstGeom prst="roundRect">
            <a:avLst>
              <a:gd name="adj" fmla="val 17857"/>
            </a:avLst>
          </a:prstGeom>
          <a:solidFill>
            <a:srgbClr val="C07A00"/>
          </a:solidFill>
          <a:ln w="12700">
            <a:solidFill>
              <a:srgbClr val="C07A00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32" name="Text 30"/>
          <p:cNvSpPr/>
          <p:nvPr/>
        </p:nvSpPr>
        <p:spPr>
          <a:xfrm>
            <a:off x="1938528" y="312724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R6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00600" y="1645920"/>
            <a:ext cx="6400800" cy="3639312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1016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BB"/>
          </a:p>
        </p:txBody>
      </p:sp>
      <p:sp>
        <p:nvSpPr>
          <p:cNvPr id="34" name="Text 32"/>
          <p:cNvSpPr/>
          <p:nvPr/>
        </p:nvSpPr>
        <p:spPr>
          <a:xfrm>
            <a:off x="5065776" y="18928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legend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5065776" y="2313432"/>
            <a:ext cx="438912" cy="228600"/>
          </a:xfrm>
          <a:prstGeom prst="roundRect">
            <a:avLst>
              <a:gd name="adj" fmla="val 16000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36" name="Text 34"/>
          <p:cNvSpPr/>
          <p:nvPr/>
        </p:nvSpPr>
        <p:spPr>
          <a:xfrm>
            <a:off x="5065776" y="234543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5650992" y="2308860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FHIR parsing misses key instructions</a:t>
            </a:r>
            <a:endParaRPr lang="en-US" sz="1460" dirty="0"/>
          </a:p>
        </p:txBody>
      </p:sp>
      <p:sp>
        <p:nvSpPr>
          <p:cNvPr id="38" name="Shape 36"/>
          <p:cNvSpPr/>
          <p:nvPr/>
        </p:nvSpPr>
        <p:spPr>
          <a:xfrm>
            <a:off x="5065776" y="2761488"/>
            <a:ext cx="438912" cy="228600"/>
          </a:xfrm>
          <a:prstGeom prst="roundRect">
            <a:avLst>
              <a:gd name="adj" fmla="val 16000"/>
            </a:avLst>
          </a:prstGeom>
          <a:solidFill>
            <a:srgbClr val="C07A00"/>
          </a:solidFill>
          <a:ln w="12700">
            <a:solidFill>
              <a:srgbClr val="C07A00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39" name="Text 37"/>
          <p:cNvSpPr/>
          <p:nvPr/>
        </p:nvSpPr>
        <p:spPr>
          <a:xfrm>
            <a:off x="5065776" y="2793492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R2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5650992" y="2756916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questions become unclear or off-target</a:t>
            </a:r>
            <a:endParaRPr lang="en-US" sz="1460" dirty="0"/>
          </a:p>
        </p:txBody>
      </p:sp>
      <p:sp>
        <p:nvSpPr>
          <p:cNvPr id="41" name="Shape 39"/>
          <p:cNvSpPr/>
          <p:nvPr/>
        </p:nvSpPr>
        <p:spPr>
          <a:xfrm>
            <a:off x="5065776" y="3209544"/>
            <a:ext cx="438912" cy="228600"/>
          </a:xfrm>
          <a:prstGeom prst="roundRect">
            <a:avLst>
              <a:gd name="adj" fmla="val 16000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42" name="Text 40"/>
          <p:cNvSpPr/>
          <p:nvPr/>
        </p:nvSpPr>
        <p:spPr>
          <a:xfrm>
            <a:off x="5065776" y="3241548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5650992" y="3204972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does not respond or drops off</a:t>
            </a:r>
            <a:endParaRPr lang="en-US" sz="1460" dirty="0"/>
          </a:p>
        </p:txBody>
      </p:sp>
      <p:sp>
        <p:nvSpPr>
          <p:cNvPr id="44" name="Shape 42"/>
          <p:cNvSpPr/>
          <p:nvPr/>
        </p:nvSpPr>
        <p:spPr>
          <a:xfrm>
            <a:off x="5065776" y="3657600"/>
            <a:ext cx="438912" cy="228600"/>
          </a:xfrm>
          <a:prstGeom prst="roundRect">
            <a:avLst>
              <a:gd name="adj" fmla="val 16000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45" name="Text 43"/>
          <p:cNvSpPr/>
          <p:nvPr/>
        </p:nvSpPr>
        <p:spPr>
          <a:xfrm>
            <a:off x="5065776" y="3689604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R4</a:t>
            </a:r>
            <a:endParaRPr lang="en-US" sz="1020" dirty="0"/>
          </a:p>
        </p:txBody>
      </p:sp>
      <p:sp>
        <p:nvSpPr>
          <p:cNvPr id="46" name="Text 44"/>
          <p:cNvSpPr/>
          <p:nvPr/>
        </p:nvSpPr>
        <p:spPr>
          <a:xfrm>
            <a:off x="5650992" y="3653028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detection misses a concerning reply</a:t>
            </a:r>
            <a:endParaRPr lang="en-US" sz="1460" dirty="0"/>
          </a:p>
        </p:txBody>
      </p:sp>
      <p:sp>
        <p:nvSpPr>
          <p:cNvPr id="47" name="Shape 45"/>
          <p:cNvSpPr/>
          <p:nvPr/>
        </p:nvSpPr>
        <p:spPr>
          <a:xfrm>
            <a:off x="5065776" y="4105656"/>
            <a:ext cx="438912" cy="228600"/>
          </a:xfrm>
          <a:prstGeom prst="roundRect">
            <a:avLst>
              <a:gd name="adj" fmla="val 16000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48" name="Text 46"/>
          <p:cNvSpPr/>
          <p:nvPr/>
        </p:nvSpPr>
        <p:spPr>
          <a:xfrm>
            <a:off x="5065776" y="4137660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R5</a:t>
            </a:r>
            <a:endParaRPr lang="en-US" sz="1020" dirty="0"/>
          </a:p>
        </p:txBody>
      </p:sp>
      <p:sp>
        <p:nvSpPr>
          <p:cNvPr id="49" name="Text 47"/>
          <p:cNvSpPr/>
          <p:nvPr/>
        </p:nvSpPr>
        <p:spPr>
          <a:xfrm>
            <a:off x="5650992" y="4101084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or privacy design blocks real deployment</a:t>
            </a:r>
            <a:endParaRPr lang="en-US" sz="1460" dirty="0"/>
          </a:p>
        </p:txBody>
      </p:sp>
      <p:sp>
        <p:nvSpPr>
          <p:cNvPr id="50" name="Shape 48"/>
          <p:cNvSpPr/>
          <p:nvPr/>
        </p:nvSpPr>
        <p:spPr>
          <a:xfrm>
            <a:off x="5065776" y="4553712"/>
            <a:ext cx="438912" cy="228600"/>
          </a:xfrm>
          <a:prstGeom prst="roundRect">
            <a:avLst>
              <a:gd name="adj" fmla="val 16000"/>
            </a:avLst>
          </a:prstGeom>
          <a:solidFill>
            <a:srgbClr val="C07A00"/>
          </a:solidFill>
          <a:ln w="12700">
            <a:solidFill>
              <a:srgbClr val="C07A00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51" name="Text 49"/>
          <p:cNvSpPr/>
          <p:nvPr/>
        </p:nvSpPr>
        <p:spPr>
          <a:xfrm>
            <a:off x="5065776" y="458571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R6</a:t>
            </a:r>
            <a:endParaRPr lang="en-US" sz="1020" dirty="0"/>
          </a:p>
        </p:txBody>
      </p:sp>
      <p:sp>
        <p:nvSpPr>
          <p:cNvPr id="52" name="Text 50"/>
          <p:cNvSpPr/>
          <p:nvPr/>
        </p:nvSpPr>
        <p:spPr>
          <a:xfrm>
            <a:off x="5650992" y="4549140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creep from live SMS or EHR integration</a:t>
            </a:r>
            <a:endParaRPr lang="en-US" sz="146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29184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E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Mitigation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team can reduce the biggest project risks now</a:t>
            </a:r>
            <a:endParaRPr lang="en-US" sz="1150" dirty="0"/>
          </a:p>
        </p:txBody>
      </p:sp>
      <p:pic>
        <p:nvPicPr>
          <p:cNvPr id="4" name="Image 0" descr="/mnt/data/closing_target_cro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249" y="1481328"/>
            <a:ext cx="1727662" cy="1965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88920" y="1389888"/>
            <a:ext cx="8412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1016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BB"/>
          </a:p>
        </p:txBody>
      </p:sp>
      <p:sp>
        <p:nvSpPr>
          <p:cNvPr id="6" name="Shape 3"/>
          <p:cNvSpPr/>
          <p:nvPr/>
        </p:nvSpPr>
        <p:spPr>
          <a:xfrm>
            <a:off x="3054096" y="1700784"/>
            <a:ext cx="438912" cy="219456"/>
          </a:xfrm>
          <a:prstGeom prst="roundRect">
            <a:avLst>
              <a:gd name="adj" fmla="val 16667"/>
            </a:avLst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7" name="Text 4"/>
          <p:cNvSpPr/>
          <p:nvPr/>
        </p:nvSpPr>
        <p:spPr>
          <a:xfrm>
            <a:off x="3054096" y="173278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</a:t>
            </a:r>
            <a:endParaRPr lang="en-US" sz="1020" dirty="0"/>
          </a:p>
        </p:txBody>
      </p:sp>
      <p:sp>
        <p:nvSpPr>
          <p:cNvPr id="8" name="Text 5"/>
          <p:cNvSpPr/>
          <p:nvPr/>
        </p:nvSpPr>
        <p:spPr>
          <a:xfrm>
            <a:off x="3657600" y="1691640"/>
            <a:ext cx="7178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validation rules, field checks, and fallback templates when discharge data is incomplete.</a:t>
            </a:r>
            <a:endParaRPr lang="en-US" sz="1540" dirty="0"/>
          </a:p>
        </p:txBody>
      </p:sp>
      <p:sp>
        <p:nvSpPr>
          <p:cNvPr id="9" name="Shape 6"/>
          <p:cNvSpPr/>
          <p:nvPr/>
        </p:nvSpPr>
        <p:spPr>
          <a:xfrm>
            <a:off x="3054096" y="2194560"/>
            <a:ext cx="438912" cy="219456"/>
          </a:xfrm>
          <a:prstGeom prst="roundRect">
            <a:avLst>
              <a:gd name="adj" fmla="val 16667"/>
            </a:avLst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10" name="Text 7"/>
          <p:cNvSpPr/>
          <p:nvPr/>
        </p:nvSpPr>
        <p:spPr>
          <a:xfrm>
            <a:off x="3054096" y="222656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R2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3657600" y="2185416"/>
            <a:ext cx="7178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 prompts and test question quality against synthetic discharge scenarios before demo use.</a:t>
            </a:r>
            <a:endParaRPr lang="en-US" sz="1540" dirty="0"/>
          </a:p>
        </p:txBody>
      </p:sp>
      <p:sp>
        <p:nvSpPr>
          <p:cNvPr id="12" name="Shape 9"/>
          <p:cNvSpPr/>
          <p:nvPr/>
        </p:nvSpPr>
        <p:spPr>
          <a:xfrm>
            <a:off x="3054096" y="2688336"/>
            <a:ext cx="438912" cy="219456"/>
          </a:xfrm>
          <a:prstGeom prst="roundRect">
            <a:avLst>
              <a:gd name="adj" fmla="val 16667"/>
            </a:avLst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13" name="Text 10"/>
          <p:cNvSpPr/>
          <p:nvPr/>
        </p:nvSpPr>
        <p:spPr>
          <a:xfrm>
            <a:off x="3054096" y="272034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</a:t>
            </a:r>
            <a:endParaRPr lang="en-US" sz="1020" dirty="0"/>
          </a:p>
        </p:txBody>
      </p:sp>
      <p:sp>
        <p:nvSpPr>
          <p:cNvPr id="14" name="Text 11"/>
          <p:cNvSpPr/>
          <p:nvPr/>
        </p:nvSpPr>
        <p:spPr>
          <a:xfrm>
            <a:off x="3657600" y="2679192"/>
            <a:ext cx="7178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reminder cadence and escalate silence after a threshold instead of assuming no risk.</a:t>
            </a:r>
            <a:endParaRPr lang="en-US" sz="1540" dirty="0"/>
          </a:p>
        </p:txBody>
      </p:sp>
      <p:sp>
        <p:nvSpPr>
          <p:cNvPr id="15" name="Shape 12"/>
          <p:cNvSpPr/>
          <p:nvPr/>
        </p:nvSpPr>
        <p:spPr>
          <a:xfrm>
            <a:off x="3054096" y="3182112"/>
            <a:ext cx="438912" cy="219456"/>
          </a:xfrm>
          <a:prstGeom prst="roundRect">
            <a:avLst>
              <a:gd name="adj" fmla="val 16667"/>
            </a:avLst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16" name="Text 13"/>
          <p:cNvSpPr/>
          <p:nvPr/>
        </p:nvSpPr>
        <p:spPr>
          <a:xfrm>
            <a:off x="3054096" y="3214116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R4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3657600" y="3172968"/>
            <a:ext cx="7178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escalation rubric conservative so uncertain replies are reviewed rather than ignored.</a:t>
            </a:r>
            <a:endParaRPr lang="en-US" sz="1540" dirty="0"/>
          </a:p>
        </p:txBody>
      </p:sp>
      <p:sp>
        <p:nvSpPr>
          <p:cNvPr id="18" name="Shape 15"/>
          <p:cNvSpPr/>
          <p:nvPr/>
        </p:nvSpPr>
        <p:spPr>
          <a:xfrm>
            <a:off x="3054096" y="3675888"/>
            <a:ext cx="438912" cy="219456"/>
          </a:xfrm>
          <a:prstGeom prst="roundRect">
            <a:avLst>
              <a:gd name="adj" fmla="val 16667"/>
            </a:avLst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19" name="Text 16"/>
          <p:cNvSpPr/>
          <p:nvPr/>
        </p:nvSpPr>
        <p:spPr>
          <a:xfrm>
            <a:off x="3054096" y="370789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R5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3657600" y="3666744"/>
            <a:ext cx="7178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MVP on synthetic data only and design future access controls around least privilege.</a:t>
            </a:r>
            <a:endParaRPr lang="en-US" sz="1540" dirty="0"/>
          </a:p>
        </p:txBody>
      </p:sp>
      <p:sp>
        <p:nvSpPr>
          <p:cNvPr id="21" name="Shape 18"/>
          <p:cNvSpPr/>
          <p:nvPr/>
        </p:nvSpPr>
        <p:spPr>
          <a:xfrm>
            <a:off x="3054096" y="4169664"/>
            <a:ext cx="438912" cy="219456"/>
          </a:xfrm>
          <a:prstGeom prst="roundRect">
            <a:avLst>
              <a:gd name="adj" fmla="val 16667"/>
            </a:avLst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22" name="Text 19"/>
          <p:cNvSpPr/>
          <p:nvPr/>
        </p:nvSpPr>
        <p:spPr>
          <a:xfrm>
            <a:off x="3054096" y="420166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R6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3657600" y="4160520"/>
            <a:ext cx="7178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233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timeline by keeping live SMS and EHR integration out of the core MVP.</a:t>
            </a:r>
            <a:endParaRPr lang="en-US" sz="1540" dirty="0"/>
          </a:p>
        </p:txBody>
      </p:sp>
      <p:sp>
        <p:nvSpPr>
          <p:cNvPr id="24" name="Shape 21"/>
          <p:cNvSpPr/>
          <p:nvPr/>
        </p:nvSpPr>
        <p:spPr>
          <a:xfrm>
            <a:off x="841248" y="5166360"/>
            <a:ext cx="10479024" cy="576072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BB"/>
          </a:p>
        </p:txBody>
      </p:sp>
      <p:sp>
        <p:nvSpPr>
          <p:cNvPr id="25" name="Text 22"/>
          <p:cNvSpPr/>
          <p:nvPr/>
        </p:nvSpPr>
        <p:spPr>
          <a:xfrm>
            <a:off x="1115568" y="5376672"/>
            <a:ext cx="9921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E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message: this project does not replace clinicians. It closes the unsafe gap between discharge and recovery.</a:t>
            </a:r>
            <a:endParaRPr lang="en-US" sz="18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29184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1511</Words>
  <Application>Microsoft Office PowerPoint</Application>
  <PresentationFormat>Widescreen</PresentationFormat>
  <Paragraphs>144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Machiavellians - AI-Powered Post-Discharge Follow-Up Agent</dc:title>
  <dc:subject>NABC Presentation</dc:subject>
  <dc:creator>OpenAI</dc:creator>
  <cp:lastModifiedBy>Atharv Rathore</cp:lastModifiedBy>
  <cp:revision>3</cp:revision>
  <dcterms:created xsi:type="dcterms:W3CDTF">2026-04-01T22:05:24Z</dcterms:created>
  <dcterms:modified xsi:type="dcterms:W3CDTF">2026-04-01T22:50:04Z</dcterms:modified>
</cp:coreProperties>
</file>